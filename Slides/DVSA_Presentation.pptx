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0E0EF"/>
                </a:solidFill>
              </a:rPr>
              <a:t>ICS 344 — Information Security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DVSA Vulnerability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Discovery &amp; Remediation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65760" y="274320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90E0EF"/>
                </a:solidFill>
              </a:rPr>
              <a:t>Damn Vulnerable Serverless Application — AWS Security Project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3291840"/>
            <a:ext cx="45720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347472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0E0EF"/>
                </a:solidFill>
              </a:rPr>
              <a:t>Team Members: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Raghad Almaghrabi · Renad Adel · Shatha Alharbi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38404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0E0EF"/>
                </a:solidFill>
              </a:rPr>
              <a:t>Platform: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AWS (us-east-1)  |  </a:t>
            </a:r>
            <a:pPr indent="0" marL="0">
              <a:buNone/>
            </a:pPr>
            <a:r>
              <a:rPr lang="en-US" sz="1300" b="1" dirty="0">
                <a:solidFill>
                  <a:srgbClr val="90E0EF"/>
                </a:solidFill>
              </a:rPr>
              <a:t>Term: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252  |  </a:t>
            </a:r>
            <a:pPr indent="0" marL="0">
              <a:buNone/>
            </a:pPr>
            <a:r>
              <a:rPr lang="en-US" sz="1300" b="1" dirty="0">
                <a:solidFill>
                  <a:srgbClr val="90E0EF"/>
                </a:solidFill>
              </a:rPr>
              <a:t>Date: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April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</a:rPr>
              <a:t>Project Overview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05840"/>
            <a:ext cx="2651760" cy="35661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265176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430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</a:rPr>
              <a:t>What is DVSA?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691640"/>
            <a:ext cx="237744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OWASP Damn Vulnerable Serverless Application — a deliberately insecure AWS app built for security training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46120" y="1005840"/>
            <a:ext cx="2651760" cy="35661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46120" y="1005840"/>
            <a:ext cx="265176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0" y="11430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</a:rPr>
              <a:t>Our Goal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383280" y="1691640"/>
            <a:ext cx="237744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Deploy DVSA on AWS, find all 10 official vulnerabilities, exploit them, fix them, and verify each fix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1005840"/>
            <a:ext cx="2651760" cy="35661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1005840"/>
            <a:ext cx="265176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63640" y="11430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</a:rPr>
              <a:t>Outcome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63640" y="1691640"/>
            <a:ext cx="237744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All 10 vulnerabilities identified, exploited, fixed &amp; verified. Full report with evidence for every lesson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AWS Serverless Architecture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0E0EF"/>
                </a:solidFill>
              </a:rPr>
              <a:t>The DVSA application runs entirely on AWS managed services — no servers to manage: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4023360" cy="868680"/>
          </a:xfrm>
          <a:prstGeom prst="rect">
            <a:avLst/>
          </a:prstGeom>
          <a:solidFill>
            <a:srgbClr val="162032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49047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</a:rPr>
              <a:t>S3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8288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Hosts the frontend website &amp; receipt storage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417320"/>
            <a:ext cx="4023360" cy="868680"/>
          </a:xfrm>
          <a:prstGeom prst="rect">
            <a:avLst/>
          </a:prstGeom>
          <a:solidFill>
            <a:srgbClr val="162032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92040" y="149047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</a:rPr>
              <a:t>API Gateway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92040" y="18288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Entry point — routes all HTTP requests from users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468880"/>
            <a:ext cx="4023360" cy="868680"/>
          </a:xfrm>
          <a:prstGeom prst="rect">
            <a:avLst/>
          </a:prstGeom>
          <a:solidFill>
            <a:srgbClr val="162032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54203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</a:rPr>
              <a:t>AWS Lambda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" y="28803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Serverless compute — runs all backend business logic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2468880"/>
            <a:ext cx="4023360" cy="868680"/>
          </a:xfrm>
          <a:prstGeom prst="rect">
            <a:avLst/>
          </a:prstGeom>
          <a:solidFill>
            <a:srgbClr val="162032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254203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</a:rPr>
              <a:t>DynamoDB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92040" y="28803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NoSQL database — stores users, orders, and cart data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520440"/>
            <a:ext cx="4023360" cy="868680"/>
          </a:xfrm>
          <a:prstGeom prst="rect">
            <a:avLst/>
          </a:prstGeom>
          <a:solidFill>
            <a:srgbClr val="162032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59359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</a:rPr>
              <a:t>Amazon Cognito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2920" y="39319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User authentication — manages JWT tokens &amp; identities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3520440"/>
            <a:ext cx="4023360" cy="868680"/>
          </a:xfrm>
          <a:prstGeom prst="rect">
            <a:avLst/>
          </a:prstGeom>
          <a:solidFill>
            <a:srgbClr val="162032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359359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</a:rPr>
              <a:t>CloudWatch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892040" y="39319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Logging &amp; monitoring — captures all Lambda execution logs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</a:rPr>
              <a:t>The 10 Official Vulnerabilities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60120"/>
            <a:ext cx="402336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60120"/>
            <a:ext cx="73152" cy="6400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12471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#1 Event Injection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960120"/>
            <a:ext cx="402336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54880" y="960120"/>
            <a:ext cx="73152" cy="6400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112471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#2 Broken Authentication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1737360"/>
            <a:ext cx="402336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1737360"/>
            <a:ext cx="73152" cy="6400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190195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#3 Sensitive Data Exposure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54880" y="1737360"/>
            <a:ext cx="402336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1737360"/>
            <a:ext cx="73152" cy="6400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0" y="190195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#4 Insecure Cloud Config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2514600"/>
            <a:ext cx="402336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2514600"/>
            <a:ext cx="73152" cy="6400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267919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#5 Broken Access Control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754880" y="2514600"/>
            <a:ext cx="402336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0" y="2514600"/>
            <a:ext cx="73152" cy="6400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267919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#6 Denial of Service (DoS)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65760" y="3291840"/>
            <a:ext cx="402336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60" y="3291840"/>
            <a:ext cx="73152" cy="6400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345643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#7 Over-Privileged Functions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754880" y="3291840"/>
            <a:ext cx="402336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54880" y="3291840"/>
            <a:ext cx="73152" cy="6400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37760" y="345643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#8 Logic Vulnerabilities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65760" y="4069080"/>
            <a:ext cx="402336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65760" y="4069080"/>
            <a:ext cx="73152" cy="6400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423367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#9 Vulnerable Dependencies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754880" y="4069080"/>
            <a:ext cx="402336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54880" y="4069080"/>
            <a:ext cx="73152" cy="6400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37760" y="423367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#10 Unhandled Exceptions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Lessons #1 &amp; #2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60120"/>
            <a:ext cx="8412480" cy="4114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05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</a:rPr>
              <a:t>#1 — Event Injection (Remote Code Execution)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141732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90E0EF"/>
                </a:solidFill>
              </a:rPr>
              <a:t>Vulnerability: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node-serialize library executed attacker-supplied JavaScript inside Lambda
</a:t>
            </a:r>
            <a:pPr indent="0" marL="0">
              <a:buNone/>
            </a:pPr>
            <a:r>
              <a:rPr lang="en-US" sz="1200" b="1" dirty="0">
                <a:solidFill>
                  <a:srgbClr val="90E0EF"/>
                </a:solidFill>
              </a:rPr>
              <a:t>Attack: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Sent crafted POST request with _$$ND_FUNC$$_ payload → arbitrary code ran in Lambda
</a:t>
            </a:r>
            <a:pPr indent="0" marL="0">
              <a:buNone/>
            </a:pPr>
            <a:r>
              <a:rPr lang="en-US" sz="1200" b="1" dirty="0">
                <a:solidFill>
                  <a:srgbClr val="90E0EF"/>
                </a:solidFill>
              </a:rPr>
              <a:t>Evidence: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CloudWatch logs showed ERROR PWNED_SUCCESS injected by attacker
</a:t>
            </a:r>
            <a:pPr indent="0" marL="0">
              <a:buNone/>
            </a:pPr>
            <a:r>
              <a:rPr lang="en-US" sz="1200" b="1" dirty="0">
                <a:solidFill>
                  <a:srgbClr val="90E0EF"/>
                </a:solidFill>
              </a:rPr>
              <a:t>Fix: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Replaced node-serialize with JSON.parse() + strict input validation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2880360"/>
            <a:ext cx="8412480" cy="4114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926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</a:rPr>
              <a:t>#2 — Broken Authentication (JWT Forgery)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02920" y="333756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90E0EF"/>
                </a:solidFill>
              </a:rPr>
              <a:t>Vulnerability: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Backend decoded JWT payload without verifying cryptographic signature
</a:t>
            </a:r>
            <a:pPr indent="0" marL="0">
              <a:buNone/>
            </a:pPr>
            <a:r>
              <a:rPr lang="en-US" sz="1200" b="1" dirty="0">
                <a:solidFill>
                  <a:srgbClr val="90E0EF"/>
                </a:solidFill>
              </a:rPr>
              <a:t>Attack: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Modified token payload, changed username to another user → accessed their orders
</a:t>
            </a:r>
            <a:pPr indent="0" marL="0">
              <a:buNone/>
            </a:pPr>
            <a:r>
              <a:rPr lang="en-US" sz="1200" b="1" dirty="0">
                <a:solidFill>
                  <a:srgbClr val="90E0EF"/>
                </a:solidFill>
              </a:rPr>
              <a:t>Evidence: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API returned User C's private order data using a forged token
</a:t>
            </a:r>
            <a:pPr indent="0" marL="0">
              <a:buNone/>
            </a:pPr>
            <a:r>
              <a:rPr lang="en-US" sz="1200" b="1" dirty="0">
                <a:solidFill>
                  <a:srgbClr val="90E0EF"/>
                </a:solidFill>
              </a:rPr>
              <a:t>Fix: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Added full JWT signature verification using Cognito JWKS public keys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Lessons #3 &amp; #4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60120"/>
            <a:ext cx="8412480" cy="4114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05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</a:rPr>
              <a:t>#3 — Sensitive Data Exposure (Admin Receipt Access)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141732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90E0EF"/>
                </a:solidFill>
              </a:rPr>
              <a:t>Vulnerability: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DVSA-ADMIN-GET-RECEIPT had no authorization check — anyone could invoke it via CLI
</a:t>
            </a:r>
            <a:pPr indent="0" marL="0">
              <a:buNone/>
            </a:pPr>
            <a:r>
              <a:rPr lang="en-US" sz="1200" b="1" dirty="0">
                <a:solidFill>
                  <a:srgbClr val="90E0EF"/>
                </a:solidFill>
              </a:rPr>
              <a:t>Attack: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Called Lambda directly with AWS CLI → received signed S3 URL with all customer receipts
</a:t>
            </a:r>
            <a:pPr indent="0" marL="0">
              <a:buNone/>
            </a:pPr>
            <a:r>
              <a:rPr lang="en-US" sz="1200" b="1" dirty="0">
                <a:solidFill>
                  <a:srgbClr val="90E0EF"/>
                </a:solidFill>
              </a:rPr>
              <a:t>Evidence: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Terminal showed HTTP 200 with valid S3 URL containing all daily receipts
</a:t>
            </a:r>
            <a:pPr indent="0" marL="0">
              <a:buNone/>
            </a:pPr>
            <a:r>
              <a:rPr lang="en-US" sz="1200" b="1" dirty="0">
                <a:solidFill>
                  <a:srgbClr val="90E0EF"/>
                </a:solidFill>
              </a:rPr>
              <a:t>Fix: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Added admin_token authorization check at start of lambda_handler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2880360"/>
            <a:ext cx="8412480" cy="4114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926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</a:rPr>
              <a:t>#4 — Insecure Cloud Configuration (S3 + Path Traversal)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02920" y="333756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90E0EF"/>
                </a:solidFill>
              </a:rPr>
              <a:t>Vulnerability: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S3 bucket had Block Public Access disabled + Lambda built file paths from user input with no validation
</a:t>
            </a:r>
            <a:pPr indent="0" marL="0">
              <a:buNone/>
            </a:pPr>
            <a:r>
              <a:rPr lang="en-US" sz="1200" b="1" dirty="0">
                <a:solidFill>
                  <a:srgbClr val="90E0EF"/>
                </a:solidFill>
              </a:rPr>
              <a:t>Attack: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Sent file: "../../etc/passwd" in Lambda test event → function read system file outside /tmp/
</a:t>
            </a:r>
            <a:pPr indent="0" marL="0">
              <a:buNone/>
            </a:pPr>
            <a:r>
              <a:rPr lang="en-US" sz="1200" b="1" dirty="0">
                <a:solidFill>
                  <a:srgbClr val="90E0EF"/>
                </a:solidFill>
              </a:rPr>
              <a:t>Evidence: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Lambda returned full /etc/passwd contents including system user list
</a:t>
            </a:r>
            <a:pPr indent="0" marL="0">
              <a:buNone/>
            </a:pPr>
            <a:r>
              <a:rPr lang="en-US" sz="1200" b="1" dirty="0">
                <a:solidFill>
                  <a:srgbClr val="90E0EF"/>
                </a:solidFill>
              </a:rPr>
              <a:t>Fix: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Enabled S3 Block Public Access + added path traversal validation in Lambda code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Lessons #5 &amp; #6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60120"/>
            <a:ext cx="8412480" cy="4114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05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</a:rPr>
              <a:t>#5 — Broken Access Control (Admin Action Bypass)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141732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90E0EF"/>
                </a:solidFill>
              </a:rPr>
              <a:t>Vulnerability: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Regular users could trigger admin-only actions by injecting action names via node-serialize
</a:t>
            </a:r>
            <a:pPr indent="0" marL="0">
              <a:buNone/>
            </a:pPr>
            <a:r>
              <a:rPr lang="en-US" sz="1200" b="1" dirty="0">
                <a:solidFill>
                  <a:srgbClr val="90E0EF"/>
                </a:solidFill>
              </a:rPr>
              <a:t>Attack: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Crafted payload invoked DVSA-ADMIN-UPDATE-ORDERS as a regular user → order flipped to paid for free
</a:t>
            </a:r>
            <a:pPr indent="0" marL="0">
              <a:buNone/>
            </a:pPr>
            <a:r>
              <a:rPr lang="en-US" sz="1200" b="1" dirty="0">
                <a:solidFill>
                  <a:srgbClr val="90E0EF"/>
                </a:solidFill>
              </a:rPr>
              <a:t>Evidence: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CloudWatch showed admin function invoked from regular user; order showed $0 with FREE_RIDE_TOKEN
</a:t>
            </a:r>
            <a:pPr indent="0" marL="0">
              <a:buNone/>
            </a:pPr>
            <a:r>
              <a:rPr lang="en-US" sz="1200" b="1" dirty="0">
                <a:solidFill>
                  <a:srgbClr val="90E0EF"/>
                </a:solidFill>
              </a:rPr>
              <a:t>Fix: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Added admin identity gate check before switch(action) block in order router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2880360"/>
            <a:ext cx="8412480" cy="4114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926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</a:rPr>
              <a:t>#6 — Denial of Service (API Gateway Flooding)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02920" y="333756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90E0EF"/>
                </a:solidFill>
              </a:rPr>
              <a:t>Vulnerability: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No rate limiting on API Gateway — default settings allow 10,000 req/sec
</a:t>
            </a:r>
            <a:pPr indent="0" marL="0">
              <a:buNone/>
            </a:pPr>
            <a:r>
              <a:rPr lang="en-US" sz="1200" b="1" dirty="0">
                <a:solidFill>
                  <a:srgbClr val="90E0EF"/>
                </a:solidFill>
              </a:rPr>
              <a:t>Attack: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Sent 800 concurrent PowerShell requests → Lambda throttled to 152 errors; service degraded for all users
</a:t>
            </a:r>
            <a:pPr indent="0" marL="0">
              <a:buNone/>
            </a:pPr>
            <a:r>
              <a:rPr lang="en-US" sz="1200" b="1" dirty="0">
                <a:solidFill>
                  <a:srgbClr val="90E0EF"/>
                </a:solidFill>
              </a:rPr>
              <a:t>Evidence: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CloudWatch showed Invocations spike to 69, Throttles hit 152, Errors and Duration increased
</a:t>
            </a:r>
            <a:pPr indent="0" marL="0">
              <a:buNone/>
            </a:pPr>
            <a:r>
              <a:rPr lang="en-US" sz="1200" b="1" dirty="0">
                <a:solidFill>
                  <a:srgbClr val="90E0EF"/>
                </a:solidFill>
              </a:rPr>
              <a:t>Fix: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Enabled API Gateway stage throttling: Rate = 100 req/sec, Burst = 50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Lessons #7 &amp; #8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60120"/>
            <a:ext cx="8412480" cy="4114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05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</a:rPr>
              <a:t>#7 — Over-Privileged Lambda Functions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141732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90E0EF"/>
                </a:solidFill>
              </a:rPr>
              <a:t>Vulnerability: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DVSA-SEND-RECEIPT-EMAIL had wildcard IAM permissions — full S3 and DynamoDB access to ALL resources
</a:t>
            </a:r>
            <a:pPr indent="0" marL="0">
              <a:buNone/>
            </a:pPr>
            <a:r>
              <a:rPr lang="en-US" sz="1200" b="1" dirty="0">
                <a:solidFill>
                  <a:srgbClr val="90E0EF"/>
                </a:solidFill>
              </a:rPr>
              <a:t>Attack: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IAM Policy Simulator confirmed the role could read/write any S3 bucket or DynamoDB table in the account
</a:t>
            </a:r>
            <a:pPr indent="0" marL="0">
              <a:buNone/>
            </a:pPr>
            <a:r>
              <a:rPr lang="en-US" sz="1200" b="1" dirty="0">
                <a:solidFill>
                  <a:srgbClr val="90E0EF"/>
                </a:solidFill>
              </a:rPr>
              <a:t>Evidence: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Policy Simulator showed S3 GetObject/PutObject and DynamoDB Scan allowed on arbitrary resources
</a:t>
            </a:r>
            <a:pPr indent="0" marL="0">
              <a:buNone/>
            </a:pPr>
            <a:r>
              <a:rPr lang="en-US" sz="1200" b="1" dirty="0">
                <a:solidFill>
                  <a:srgbClr val="90E0EF"/>
                </a:solidFill>
              </a:rPr>
              <a:t>Fix: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Replaced wildcard policies with ReceiptFunctionLeastPrivilege — scoped ARNs only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2880360"/>
            <a:ext cx="8412480" cy="4114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926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</a:rPr>
              <a:t>#8 — Logic Vulnerabilities (Race Condition)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02920" y="333756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90E0EF"/>
                </a:solidFill>
              </a:rPr>
              <a:t>Vulnerability: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Order update requests were processed before payment was locked — a race condition in workflow sequencing
</a:t>
            </a:r>
            <a:pPr indent="0" marL="0">
              <a:buNone/>
            </a:pPr>
            <a:r>
              <a:rPr lang="en-US" sz="1200" b="1" dirty="0">
                <a:solidFill>
                  <a:srgbClr val="90E0EF"/>
                </a:solidFill>
              </a:rPr>
              <a:t>Attack: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Sent billing request then immediately sent update request → quantity changed after billing, paying less than owed
</a:t>
            </a:r>
            <a:pPr indent="0" marL="0">
              <a:buNone/>
            </a:pPr>
            <a:r>
              <a:rPr lang="en-US" sz="1200" b="1" dirty="0">
                <a:solidFill>
                  <a:srgbClr val="90E0EF"/>
                </a:solidFill>
              </a:rPr>
              <a:t>Evidence: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Order showed 5 items delivered but only 1 item was paid for at checkout
</a:t>
            </a:r>
            <a:pPr indent="0" marL="0">
              <a:buNone/>
            </a:pPr>
            <a:r>
              <a:rPr lang="en-US" sz="1200" b="1" dirty="0">
                <a:solidFill>
                  <a:srgbClr val="90E0EF"/>
                </a:solidFill>
              </a:rPr>
              <a:t>Fix: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Added order status check — updates blocked once order moves past open state (status ≥ 120)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Lessons #9 &amp; #10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60120"/>
            <a:ext cx="8412480" cy="4114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05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</a:rPr>
              <a:t>#9 — Vulnerable Dependencies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141732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90E0EF"/>
                </a:solidFill>
              </a:rPr>
              <a:t>Vulnerability: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Application used outdated npm packages with known CVEs — including node-serialize with RCE vulnerability
</a:t>
            </a:r>
            <a:pPr indent="0" marL="0">
              <a:buNone/>
            </a:pPr>
            <a:r>
              <a:rPr lang="en-US" sz="1200" b="1" dirty="0">
                <a:solidFill>
                  <a:srgbClr val="90E0EF"/>
                </a:solidFill>
              </a:rPr>
              <a:t>Attack: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Exploited known vulnerability in the specific library version deployed in Lambda
</a:t>
            </a:r>
            <a:pPr indent="0" marL="0">
              <a:buNone/>
            </a:pPr>
            <a:r>
              <a:rPr lang="en-US" sz="1200" b="1" dirty="0">
                <a:solidFill>
                  <a:srgbClr val="90E0EF"/>
                </a:solidFill>
              </a:rPr>
              <a:t>Evidence: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npm audit confirmed critical vulnerabilities in installed packages
</a:t>
            </a:r>
            <a:pPr indent="0" marL="0">
              <a:buNone/>
            </a:pPr>
            <a:r>
              <a:rPr lang="en-US" sz="1200" b="1" dirty="0">
                <a:solidFill>
                  <a:srgbClr val="90E0EF"/>
                </a:solidFill>
              </a:rPr>
              <a:t>Fix: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Updated all dependencies to patched versions and replaced vulnerable libraries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2880360"/>
            <a:ext cx="8412480" cy="4114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926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</a:rPr>
              <a:t>#10 — Unhandled Exceptions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02920" y="333756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90E0EF"/>
                </a:solidFill>
              </a:rPr>
              <a:t>Vulnerability: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Lambda functions had no try/catch — any runtime error crashed the function and exposed raw stack traces
</a:t>
            </a:r>
            <a:pPr indent="0" marL="0">
              <a:buNone/>
            </a:pPr>
            <a:r>
              <a:rPr lang="en-US" sz="1200" b="1" dirty="0">
                <a:solidFill>
                  <a:srgbClr val="90E0EF"/>
                </a:solidFill>
              </a:rPr>
              <a:t>Attack: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Sent malformed requests to trigger crashes → received internal file paths, line numbers, and source code
</a:t>
            </a:r>
            <a:pPr indent="0" marL="0">
              <a:buNone/>
            </a:pPr>
            <a:r>
              <a:rPr lang="en-US" sz="1200" b="1" dirty="0">
                <a:solidFill>
                  <a:srgbClr val="90E0EF"/>
                </a:solidFill>
              </a:rPr>
              <a:t>Evidence: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API returned Python KeyError with /var/task/get_order.py line 30 and source code visible
</a:t>
            </a:r>
            <a:pPr indent="0" marL="0">
              <a:buNone/>
            </a:pPr>
            <a:r>
              <a:rPr lang="en-US" sz="1200" b="1" dirty="0">
                <a:solidFill>
                  <a:srgbClr val="90E0EF"/>
                </a:solidFill>
              </a:rPr>
              <a:t>Fix: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Wrapped all Lambda handlers in try/except blocks returning safe generic error messages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</a:rPr>
              <a:t>Our Methodology — How We Worked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</a:rPr>
              <a:t>For every vulnerability we followed the same structured 10-step process: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411480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371600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38988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Understand the Intended Behavior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162763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</a:rPr>
              <a:t>What should the system do correctly?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1371600"/>
            <a:ext cx="411480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1371600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257800" y="138988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Identify the Root Cause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257800" y="162763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</a:rPr>
              <a:t>Why does the vulnerability exist?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084832"/>
            <a:ext cx="411480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084832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68680" y="210312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Set Up the Environment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68680" y="2340864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</a:rPr>
              <a:t>Which Lambda, endpoint, or AWS service is involved?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2084832"/>
            <a:ext cx="411480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2084832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257800" y="210312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Reproduce the Attack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257800" y="2340864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</a:rPr>
              <a:t>Exploit the vulnerability with real proof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2798064"/>
            <a:ext cx="411480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2798064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</a:rPr>
              <a:t>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68680" y="281635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Capture Evidence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68680" y="3054096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</a:rPr>
              <a:t>Screenshots, logs, API responses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54880" y="2798064"/>
            <a:ext cx="411480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2798064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</a:rPr>
              <a:t>6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257800" y="281635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Design a Fix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257800" y="3054096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</a:rPr>
              <a:t>What security change addresses the root cause?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65760" y="3511296"/>
            <a:ext cx="411480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3511296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</a:rPr>
              <a:t>7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68680" y="352958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Apply the Code / Config Change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68680" y="376732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</a:rPr>
              <a:t>Fix in Lambda code or AWS Console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54880" y="3511296"/>
            <a:ext cx="411480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54880" y="3511296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</a:rPr>
              <a:t>8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257800" y="352958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Verify the Fix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257800" y="376732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</a:rPr>
              <a:t>Repeat the attack — confirm it is now blocked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65760" y="4224528"/>
            <a:ext cx="411480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" y="4224528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</a:rPr>
              <a:t>9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68680" y="424281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Structured Analysis Tables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868680" y="44805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</a:rPr>
              <a:t>Before/after comparison with evidence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754880" y="4224528"/>
            <a:ext cx="411480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54880" y="4224528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</a:rPr>
              <a:t>10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5257800" y="424281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Takeaway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257800" y="44805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</a:rPr>
              <a:t>What secure design principle does this teach?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Tools &amp; Techniques Used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60120"/>
            <a:ext cx="2743200" cy="3840480"/>
          </a:xfrm>
          <a:prstGeom prst="rect">
            <a:avLst/>
          </a:prstGeom>
          <a:solidFill>
            <a:srgbClr val="162032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60120"/>
            <a:ext cx="274320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058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Exploitation Tools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508760"/>
            <a:ext cx="24688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Browser DevTools (F12)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Console fetch() commands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PowerShell concurrent requests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AWS CLI direct invocation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curl terminal commands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91840" y="960120"/>
            <a:ext cx="2743200" cy="3840480"/>
          </a:xfrm>
          <a:prstGeom prst="rect">
            <a:avLst/>
          </a:prstGeom>
          <a:solidFill>
            <a:srgbClr val="162032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91840" y="960120"/>
            <a:ext cx="274320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0" y="10058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AWS Services Used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29000" y="1508760"/>
            <a:ext cx="24688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Lambda (code editing)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CloudWatch (log inspection)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IAM Policy Simulator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API Gateway (throttling)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DynamoDB (data verification)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960120"/>
            <a:ext cx="2743200" cy="3840480"/>
          </a:xfrm>
          <a:prstGeom prst="rect">
            <a:avLst/>
          </a:prstGeom>
          <a:solidFill>
            <a:srgbClr val="162032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960120"/>
            <a:ext cx="274320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10058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Security Fixes Applied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55080" y="1508760"/>
            <a:ext cx="24688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Input validation &amp; sanitization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JWT signature verification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Rate limiting &amp; throttling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IAM least-privilege policies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try/catch error handling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</a:rPr>
              <a:t>Key Security Findings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60120"/>
            <a:ext cx="402336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0D1B2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73152" cy="11430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3327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Every Layer Can Be Attacked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353312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From S3 bucket misconfiguration to IAM roles to Lambda code — vulnerabilities existed at every level of the serverless stack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960120"/>
            <a:ext cx="402336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0D1B2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960120"/>
            <a:ext cx="73152" cy="11430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103327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No Framework Safety Net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37760" y="1353312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In Lambda functions, there is no global error handler or middleware. Every function must validate input, check auth, and handle errors independently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258568"/>
            <a:ext cx="402336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0D1B2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258568"/>
            <a:ext cx="73152" cy="11430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3317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Logging ≠ Monitoring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2651760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CloudWatch captured every attack in logs — but no alarm existed to notify anyone. Detection requires explicit metric filters, alarms, and notification channels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2258568"/>
            <a:ext cx="402336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0D1B2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2258568"/>
            <a:ext cx="73152" cy="11430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23317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Default AWS Settings Are Dangerous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37760" y="2651760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API Gateway allows 10,000 req/sec by default. S3 Block Public Access is off by default. Defaults must be hardened before deployment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557016"/>
            <a:ext cx="402336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0D1B2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557016"/>
            <a:ext cx="73152" cy="11430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363016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IAM Over-Privilege Is a Force Multiplier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" y="3950208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A compromised Lambda function with wildcard IAM permissions gives an attacker access to every S3 bucket and DynamoDB table in the entire account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3557016"/>
            <a:ext cx="402336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0D1B2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3557016"/>
            <a:ext cx="73152" cy="11430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0" y="363016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Input Validation Cannot Be Skipped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937760" y="3950208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Almost every vulnerability involved trusting caller-supplied data without verification — from JWT claims to file paths to order quantities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What We Learned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60120"/>
            <a:ext cx="411480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60120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86968" y="10058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</a:rPr>
              <a:t>Never Trust Input — 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834640" y="1005840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Every field from every caller must be validated server-side. Client-side validation is always bypassable.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627632"/>
            <a:ext cx="411480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627632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86968" y="1673352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</a:rPr>
              <a:t>Least Privilege Always — 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834640" y="1673352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IAM roles must grant only the exact permissions a function needs — nothing more. Wildcards are never acceptable in production.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295144"/>
            <a:ext cx="411480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295144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86968" y="2340864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</a:rPr>
              <a:t>Each Lambda Is Its Own Boundary — 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834640" y="2340864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There is no shared authentication layer. Every function must independently verify identity and authorization.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2962656"/>
            <a:ext cx="411480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962656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86968" y="3008376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</a:rPr>
              <a:t>Secrets Belong in Environment Variables — 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834640" y="3008376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Tokens, keys, and admin credentials must never appear in code or logs — only in secure Lambda environment variables.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3630168"/>
            <a:ext cx="411480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630168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86968" y="3675888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</a:rPr>
              <a:t>Fix Root Causes, Not Symptoms — 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834640" y="3675888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A UI-side fix for a backend vulnerability scores zero. Security fixes must be applied at the layer where the weakness exists.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65760" y="4297680"/>
            <a:ext cx="411480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297680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</a:rPr>
              <a:t>6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86968" y="43434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</a:rPr>
              <a:t>Defense in Depth — 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834640" y="4343400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Multiple independent security controls are better than one. Even if one layer fails, others should hold.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</a:rPr>
              <a:t>Project Summary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05840"/>
            <a:ext cx="1920240" cy="1737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9728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0B4D8"/>
                </a:solidFill>
              </a:rPr>
              <a:t>10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365760" y="192024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Vulnerabilities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Found &amp; Fixed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14600" y="1005840"/>
            <a:ext cx="1920240" cy="1737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514600" y="109728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0B4D8"/>
                </a:solidFill>
              </a:rPr>
              <a:t>100%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2514600" y="192024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Verified After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Each Fix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005840"/>
            <a:ext cx="1920240" cy="1737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63440" y="109728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0B4D8"/>
                </a:solidFill>
              </a:rPr>
              <a:t>10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4663440" y="192024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Report Sections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Per Lesson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12280" y="1005840"/>
            <a:ext cx="1920240" cy="1737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12280" y="109728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0B4D8"/>
                </a:solidFill>
              </a:rPr>
              <a:t>3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6812280" y="192024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Team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Members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2880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Deliverables Completed: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65760" y="3337560"/>
            <a:ext cx="274320" cy="2743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3310128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</a:rPr>
              <a:t>Written Report (PDF) — 10-part structured analysis for all 10 vulnerabilities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3749040"/>
            <a:ext cx="274320" cy="2743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3721608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</a:rPr>
              <a:t>Presentation Slides — visual summary of findings and fixes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4160520"/>
            <a:ext cx="274320" cy="2743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4133088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</a:rPr>
              <a:t>GitHub Repository — all code changes, scripts, and documentation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4572000"/>
            <a:ext cx="274320" cy="2743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4544568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</a:rPr>
              <a:t>Demo Video — recorded walkthrough of each vulnerability, exploit, fix, and verification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188720"/>
            <a:ext cx="8412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Thank You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365760" y="2286000"/>
            <a:ext cx="45720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24688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0E0EF"/>
                </a:solidFill>
              </a:rPr>
              <a:t>ICS 344 — Information Security  |  King Fahd University of Petroleum and Minerals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29260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Raghad Almaghrabi · Renad Adel · Shatha Alharbi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338328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899AA"/>
                </a:solidFill>
              </a:rPr>
              <a:t>DVSA — OWASP Damn Vulnerable Serverless Application  |  AWS us-east-1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39319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B4D8"/>
                </a:solidFill>
              </a:rPr>
              <a:t>Questions?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ICS 344 - DVSA Security Project</dc:title>
  <dc:subject>PptxGenJS Presentation</dc:subject>
  <dc:creator>PptxGenJS</dc:creator>
  <cp:lastModifiedBy>PptxGenJS</cp:lastModifiedBy>
  <cp:revision>1</cp:revision>
  <dcterms:created xsi:type="dcterms:W3CDTF">2026-04-27T14:24:58Z</dcterms:created>
  <dcterms:modified xsi:type="dcterms:W3CDTF">2026-04-27T14:24:58Z</dcterms:modified>
</cp:coreProperties>
</file>